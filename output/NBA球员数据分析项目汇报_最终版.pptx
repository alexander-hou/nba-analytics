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e5c475b2be4397" /><Relationship Type="http://schemas.openxmlformats.org/officeDocument/2006/relationships/extended-properties" Target="/docProps/app.xml" Id="Ra539f2f9bb7f450f" /><Relationship Type="http://schemas.openxmlformats.org/officeDocument/2006/relationships/officeDocument" Target="/ppt/presentation.xml" Id="R559ef685aef749b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2914106bd34500"/>
  </p:sldMasterIdLst>
  <p:notesMasterIdLst>
    <p:notesMasterId xmlns:r="http://schemas.openxmlformats.org/officeDocument/2006/relationships" r:id="R8bab0b3ecd914dba"/>
  </p:notesMasterIdLst>
  <p:sldIdLst>
    <p:sldId xmlns:r="http://schemas.openxmlformats.org/officeDocument/2006/relationships" id="256" r:id="R28475b89c19047d6"/>
    <p:sldId xmlns:r="http://schemas.openxmlformats.org/officeDocument/2006/relationships" id="257" r:id="R57132487c5054e92"/>
    <p:sldId xmlns:r="http://schemas.openxmlformats.org/officeDocument/2006/relationships" id="258" r:id="R030bde63e8ee4051"/>
    <p:sldId xmlns:r="http://schemas.openxmlformats.org/officeDocument/2006/relationships" id="259" r:id="R88048430095649e6"/>
    <p:sldId xmlns:r="http://schemas.openxmlformats.org/officeDocument/2006/relationships" id="260" r:id="Rfcc5935614cf4b93"/>
    <p:sldId xmlns:r="http://schemas.openxmlformats.org/officeDocument/2006/relationships" id="261" r:id="R1ec584773f8e43ba"/>
    <p:sldId xmlns:r="http://schemas.openxmlformats.org/officeDocument/2006/relationships" id="262" r:id="R13b411c4c4c845fe"/>
    <p:sldId xmlns:r="http://schemas.openxmlformats.org/officeDocument/2006/relationships" id="263" r:id="Ra1a4ba917d17410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230a1ad52854c62" /><Relationship Type="http://schemas.openxmlformats.org/officeDocument/2006/relationships/slideMaster" Target="/ppt/slideMasters/slideMaster1.xml" Id="Rfb2914106bd34500" /><Relationship Type="http://schemas.openxmlformats.org/officeDocument/2006/relationships/notesMaster" Target="/ppt/notesMasters/notesMaster1.xml" Id="R8bab0b3ecd914dba" /><Relationship Type="http://schemas.openxmlformats.org/officeDocument/2006/relationships/presProps" Target="/ppt/presProps.xml" Id="R3079db449c2e42c7" /><Relationship Type="http://schemas.openxmlformats.org/officeDocument/2006/relationships/viewProps" Target="/ppt/viewProps.xml" Id="R78daf2fc44804782" /><Relationship Type="http://schemas.openxmlformats.org/officeDocument/2006/relationships/tableStyles" Target="/ppt/tableStyles.xml" Id="Rec62ea6c36994087" /><Relationship Type="http://schemas.openxmlformats.org/officeDocument/2006/relationships/slide" Target="/ppt/slides/slide1.xml" Id="R28475b89c19047d6" /><Relationship Type="http://schemas.openxmlformats.org/officeDocument/2006/relationships/slide" Target="/ppt/slides/slide2.xml" Id="R57132487c5054e92" /><Relationship Type="http://schemas.openxmlformats.org/officeDocument/2006/relationships/slide" Target="/ppt/slides/slide3.xml" Id="R030bde63e8ee4051" /><Relationship Type="http://schemas.openxmlformats.org/officeDocument/2006/relationships/slide" Target="/ppt/slides/slide4.xml" Id="R88048430095649e6" /><Relationship Type="http://schemas.openxmlformats.org/officeDocument/2006/relationships/slide" Target="/ppt/slides/slide5.xml" Id="Rfcc5935614cf4b93" /><Relationship Type="http://schemas.openxmlformats.org/officeDocument/2006/relationships/slide" Target="/ppt/slides/slide6.xml" Id="R1ec584773f8e43ba" /><Relationship Type="http://schemas.openxmlformats.org/officeDocument/2006/relationships/slide" Target="/ppt/slides/slide7.xml" Id="R13b411c4c4c845fe" /><Relationship Type="http://schemas.openxmlformats.org/officeDocument/2006/relationships/slide" Target="/ppt/slides/slide8.xml" Id="Ra1a4ba917d1741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bff5a750c9413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d306799de7d4223" /><Relationship Type="http://schemas.openxmlformats.org/officeDocument/2006/relationships/notesMaster" Target="/ppt/notesMasters/notesMaster1.xml" Id="R3a6a6f6cba664d0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dacd6676deb4208" /><Relationship Type="http://schemas.openxmlformats.org/officeDocument/2006/relationships/notesMaster" Target="/ppt/notesMasters/notesMaster1.xml" Id="Rc90e69c45a364d1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6bfb75ebca443cd" /><Relationship Type="http://schemas.openxmlformats.org/officeDocument/2006/relationships/notesMaster" Target="/ppt/notesMasters/notesMaster1.xml" Id="R2e319361d49e4b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f682622b124e1a" /><Relationship Type="http://schemas.openxmlformats.org/officeDocument/2006/relationships/notesMaster" Target="/ppt/notesMasters/notesMaster1.xml" Id="R01d28af7293345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91a32735d514d4e" /><Relationship Type="http://schemas.openxmlformats.org/officeDocument/2006/relationships/notesMaster" Target="/ppt/notesMasters/notesMaster1.xml" Id="R189401e093c042e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f9523bca5094407" /><Relationship Type="http://schemas.openxmlformats.org/officeDocument/2006/relationships/notesMaster" Target="/ppt/notesMasters/notesMaster1.xml" Id="R292fd0147ba34e8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5a0582e57f41b1" /><Relationship Type="http://schemas.openxmlformats.org/officeDocument/2006/relationships/notesMaster" Target="/ppt/notesMasters/notesMaster1.xml" Id="R90a0c00d521e46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edcb7987d84b24" /><Relationship Type="http://schemas.openxmlformats.org/officeDocument/2006/relationships/notesMaster" Target="/ppt/notesMasters/notesMaster1.xml" Id="R9c048c3bf41a446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来源：项目 README、Git 历史和本地代码。汇报范围为 1950 至 2017 赛季数据。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来源：README 团队分工。角色 E 的实现避免修改 src 和 notebooks，以降低合并冲突。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来源：src/data_cleaning.py 的本地运行输出与清洗逻辑。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来源：master_data.csv 的本地汇总计算。3PAr 表示三分出手占总投篮出手的比例。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来源：notebooks/02_clustering.ipynb 与 figures/clustering_pca_feature_2010s.png。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来源：notebooks/03_prediction.ipynb 与 src/models.py。全明星级标签定义为下一赛季 PER ≥ 20 且 WS ≥ 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来源：app/app.py。看板使用缺失模型的可用降级提示，不伪造预测结果。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来源：git log、README、FINAL_REPORT.md 和当前仓库文件。结论描述当前已交付的代码与数据链路。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cda6a7289d497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234ea25298482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e0855e5f1740d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0820da71d340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2a9473026344a4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56c45ac16dc4df5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32c2153871443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e8f9cc41944ecf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ab66e970154353" /><Relationship Type="http://schemas.openxmlformats.org/officeDocument/2006/relationships/image" Target="/ppt/media/image.png" Id="R292aa3201949426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2e5617113c49ed" /><Relationship Type="http://schemas.openxmlformats.org/officeDocument/2006/relationships/image" Target="/ppt/media/image2.png" Id="R46f42ae5a16a438e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 sz="1100"/>
          </a:p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 sz="1100"/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292aa3201949426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46f42ae5a16a438e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eda8b6539c4293" /><Relationship Type="http://schemas.openxmlformats.org/officeDocument/2006/relationships/slideLayout" Target="/ppt/slideLayouts/slideLayout1.xml" Id="R69ec172bd306472f" /><Relationship Type="http://schemas.openxmlformats.org/officeDocument/2006/relationships/slideLayout" Target="/ppt/slideLayouts/slideLayout2.xml" Id="R618d32b3e9bc4093" /><Relationship Type="http://schemas.openxmlformats.org/officeDocument/2006/relationships/slideLayout" Target="/ppt/slideLayouts/slideLayout3.xml" Id="Rb2ad9c09e47c442a" /><Relationship Type="http://schemas.openxmlformats.org/officeDocument/2006/relationships/slideLayout" Target="/ppt/slideLayouts/slideLayout4.xml" Id="Rac7f0693ee474a6e" /><Relationship Type="http://schemas.openxmlformats.org/officeDocument/2006/relationships/slideLayout" Target="/ppt/slideLayouts/slideLayout5.xml" Id="R94639849c4fc4ca6" /><Relationship Type="http://schemas.openxmlformats.org/officeDocument/2006/relationships/slideLayout" Target="/ppt/slideLayouts/slideLayout6.xml" Id="R57d830ba10494c79" /><Relationship Type="http://schemas.openxmlformats.org/officeDocument/2006/relationships/slideLayout" Target="/ppt/slideLayouts/slideLayout7.xml" Id="Rf52afe8d7f6e4565" /><Relationship Type="http://schemas.openxmlformats.org/officeDocument/2006/relationships/slideLayout" Target="/ppt/slideLayouts/slideLayout8.xml" Id="R6cc34e83d18b4f5d" /><Relationship Type="http://schemas.openxmlformats.org/officeDocument/2006/relationships/slideLayout" Target="/ppt/slideLayouts/slideLayout9.xml" Id="R1bbfb6a50b6b4b14" /><Relationship Type="http://schemas.openxmlformats.org/officeDocument/2006/relationships/slideLayout" Target="/ppt/slideLayouts/slideLayout10.xml" Id="R53ae900a3e27494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900"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ec172bd306472f"/>
    <p:sldLayoutId xmlns:r="http://schemas.openxmlformats.org/officeDocument/2006/relationships" id="2147483650" r:id="R618d32b3e9bc4093"/>
    <p:sldLayoutId xmlns:r="http://schemas.openxmlformats.org/officeDocument/2006/relationships" id="2147483651" r:id="Rb2ad9c09e47c442a"/>
    <p:sldLayoutId xmlns:r="http://schemas.openxmlformats.org/officeDocument/2006/relationships" id="2147483652" r:id="Rac7f0693ee474a6e"/>
    <p:sldLayoutId xmlns:r="http://schemas.openxmlformats.org/officeDocument/2006/relationships" id="2147483653" r:id="R94639849c4fc4ca6"/>
    <p:sldLayoutId xmlns:r="http://schemas.openxmlformats.org/officeDocument/2006/relationships" id="2147483654" r:id="R57d830ba10494c79"/>
    <p:sldLayoutId xmlns:r="http://schemas.openxmlformats.org/officeDocument/2006/relationships" id="2147483655" r:id="Rf52afe8d7f6e4565"/>
    <p:sldLayoutId xmlns:r="http://schemas.openxmlformats.org/officeDocument/2006/relationships" id="2147483656" r:id="R6cc34e83d18b4f5d"/>
    <p:sldLayoutId xmlns:r="http://schemas.openxmlformats.org/officeDocument/2006/relationships" id="2147483657" r:id="R1bbfb6a50b6b4b14"/>
    <p:sldLayoutId xmlns:r="http://schemas.openxmlformats.org/officeDocument/2006/relationships" id="2147483658" r:id="R53ae900a3e27494d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6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c77ea3e43d429f" /><Relationship Type="http://schemas.openxmlformats.org/officeDocument/2006/relationships/notesSlide" Target="/ppt/notesSlides/notesSlide1.xml" Id="R9b84d56de25d49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58cc743a5345ed" /><Relationship Type="http://schemas.openxmlformats.org/officeDocument/2006/relationships/notesSlide" Target="/ppt/notesSlides/notesSlide2.xml" Id="R55f8064e09df47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80a584186847b4" /><Relationship Type="http://schemas.openxmlformats.org/officeDocument/2006/relationships/notesSlide" Target="/ppt/notesSlides/notesSlide3.xml" Id="Rec85a538311d4a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42767c06cf4e2d" /><Relationship Type="http://schemas.openxmlformats.org/officeDocument/2006/relationships/chart" Target="/ppt/slides/charts/chart1.xml" Id="R3b69e0a51f4144ca" /><Relationship Type="http://schemas.openxmlformats.org/officeDocument/2006/relationships/notesSlide" Target="/ppt/notesSlides/notesSlide4.xml" Id="R04c07c1720cb482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65cf25848343aa" /><Relationship Type="http://schemas.openxmlformats.org/officeDocument/2006/relationships/image" Target="/ppt/media/image3.png" Id="Ra31c65cce653498d" /><Relationship Type="http://schemas.openxmlformats.org/officeDocument/2006/relationships/notesSlide" Target="/ppt/notesSlides/notesSlide5.xml" Id="R26d8c25ff59741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6420db5ef1475e" /><Relationship Type="http://schemas.openxmlformats.org/officeDocument/2006/relationships/notesSlide" Target="/ppt/notesSlides/notesSlide6.xml" Id="R3dde53847cdb4f9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f7184fb09e42a1" /><Relationship Type="http://schemas.openxmlformats.org/officeDocument/2006/relationships/notesSlide" Target="/ppt/notesSlides/notesSlide7.xml" Id="Rd18ecb14cafb4e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ac96ebb3e54ddf" /><Relationship Type="http://schemas.openxmlformats.org/officeDocument/2006/relationships/notesSlide" Target="/ppt/notesSlides/notesSlide8.xml" Id="R3fbc1aa7e8374eab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3PAr 中位数</c:v>
          </c:tx>
          <c:spPr>
            <a:solidFill xmlns:a="http://schemas.openxmlformats.org/drawingml/2006/main">
              <a:srgbClr val="2F6B9A"/>
            </a:solidFill>
          </c:spPr>
          <c:cat>
            <c:numLit>
              <c:formatCode>General</c:formatCode>
              <c:ptCount val="5"/>
              <c:pt idx="0">
                <c:v>1980</c:v>
              </c:pt>
              <c:pt idx="1">
                <c:v>1990</c:v>
              </c:pt>
              <c:pt idx="2">
                <c:v>2000</c:v>
              </c:pt>
              <c:pt idx="3">
                <c:v>2010</c:v>
              </c:pt>
              <c:pt idx="4">
                <c:v>2017</c:v>
              </c:pt>
            </c:numLit>
          </c:cat>
          <c:val>
            <c:numLit>
              <c:formatCode>General</c:formatCode>
              <c:ptCount val="5"/>
              <c:pt idx="0">
                <c:v>0.011</c:v>
              </c:pt>
              <c:pt idx="1">
                <c:v>0.032</c:v>
              </c:pt>
              <c:pt idx="2">
                <c:v>0.128</c:v>
              </c:pt>
              <c:pt idx="3">
                <c:v>0.226</c:v>
              </c:pt>
              <c:pt idx="4">
                <c:v>0.324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</c:chartSpace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 rotWithShape="1">
          <a:gsLst>
            <a:gs pos="0">
              <a:srgbClr val="0C3666"/>
            </a:gs>
            <a:gs pos="100000">
              <a:srgbClr val="061C39"/>
            </a:gs>
          </a:gsLst>
          <a:lin ang="13500000" scaled="1"/>
          <a:tileRect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0F24658D-7578-8E1B-095D-2634178665BE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84537" y="1850746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NBA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球员数据分析与机器学习</a:t>
            </a:r>
          </a:p>
          <a:p xmlns:a="http://schemas.openxmlformats.org/drawingml/2006/main">
            <a:r>
              <a:rPr sz="6500">
                <a:solidFill>
                  <a:schemeClr val="accent3"/>
                </a:solidFill>
              </a:rPr>
              <a:t>项目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9CFCDDD1-6B62-D648-FCD8-F519A8EBFE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5170707"/>
            <a:ext cx="3568700" cy="6477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>最终汇报</a:t>
            </a:r>
          </a:p>
        </p:txBody>
      </p:sp>
      <p:sp>
        <p:nvSpPr>
          <p:cNvPr id="2" name="Subtitle 4">
            <a:extLst xmlns:a="http://schemas.openxmlformats.org/drawingml/2006/main">
              <a:ext uri="{FF2B5EF4-FFF2-40B4-BE49-F238E27FC236}">
                <a16:creationId xmlns:a16="http://schemas.microsoft.com/office/drawing/2014/main" id="{7DE36FE5-F5E6-DBA2-7BCD-BDE05B2A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789" y="5170707"/>
            <a:ext cx="35687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>
                <a:solidFill>
                  <a:schemeClr val="bg2">
                    <a:lumMod val="75000"/>
                  </a:schemeClr>
                </a:solidFill>
              </a:rPr>
              <a:t/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1855E0C5-A5E4-590B-0D77-15A6F24D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8228" y="623595"/>
            <a:ext cx="319923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2026</a:t>
            </a:r>
          </a:p>
        </p:txBody>
      </p:sp>
      <p:sp>
        <p:nvSpPr>
          <p:cNvPr id="7" name="Subtitle 4">
            <a:extLst xmlns:a="http://schemas.openxmlformats.org/drawingml/2006/main">
              <a:ext uri="{FF2B5EF4-FFF2-40B4-BE49-F238E27FC236}">
                <a16:creationId xmlns:a16="http://schemas.microsoft.com/office/drawing/2014/main" id="{5794C0B2-4912-64A0-21CF-60B66252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623595"/>
            <a:ext cx="55372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buNone/>
            </a:pPr>
            <a:r>
              <a:rPr sz="1800">
                <a:solidFill>
                  <a:srgbClr val="EDF5FE">
                    <a:alpha val="50000"/>
                  </a:srgbClr>
                </a:solidFill>
                <a:latin typeface="Helvetica Neue"/>
                <a:ea typeface="Helvetica Neue"/>
                <a:cs typeface="Helvetica Neue"/>
              </a:rPr>
              <a:t>角色 E：Web 前端看板开发与项目整合</a:t>
            </a:r>
          </a:p>
        </p:txBody>
      </p:sp>
      <p:sp>
        <p:nvSpPr>
          <p:cNvPr id="8" name="Straight Connector 7">
            <a:extLst xmlns:a="http://schemas.openxmlformats.org/drawingml/2006/main">
              <a:ext uri="{FF2B5EF4-FFF2-40B4-BE49-F238E27FC236}">
                <a16:creationId xmlns:a16="http://schemas.microsoft.com/office/drawing/2014/main" id="{AE26F128-FAFD-43DA-B529-28710685D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537" y="374574"/>
            <a:ext cx="11422926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rgbClr val="7A8CA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198694720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AD442F-28D0-4CFC-9A9F-0EE3C4C1F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E59"/>
                </a:solidFill>
              </a:defRPr>
            </a:pPr>
            <a:r>
              <a:rPr sz="2400" b="1">
                <a:solidFill>
                  <a:srgbClr val="0B2E59"/>
                </a:solidFill>
              </a:rPr>
              <a:t>项目目标与协作分工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EEC47-089F-469A-A33A-B2F00C21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以 NBA 历史球员赛季数据为主线，完成从数据工程到交互展示的分析闭环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C82DFC-0340-4D25-A6A8-DA4B3033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73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角色 A  数据清洗</a:t>
            </a:r>
          </a:p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统一字段、处理交易赛季与同名球员，输出 master_data.csv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71B3A5-3290-42AD-8F08-D3268170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角色 B  EDA 与可视化</a:t>
            </a:r>
          </a:p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统一合格样本口径，封装统计和绘图函数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093EA9-6CFF-42D9-A50F-13C1BEE1E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481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角色 C  聚类挖掘</a:t>
            </a:r>
          </a:p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按时代识别球员功能类型并输出图像成果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41C636-F9CA-4E31-9B64-B78B6F9F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角色 D  预测建模</a:t>
            </a:r>
          </a:p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预测下一赛季 PER 与全明星级概率，支持 SHAP 解释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0E653E-E10C-4A4E-9C5D-C5BA8080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14750"/>
            <a:ext cx="47625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角色 E  看板与整合</a:t>
            </a:r>
          </a:p>
          <a:p xmlns:a="http://schemas.openxmlformats.org/drawingml/2006/main">
            <a:pPr>
              <a:defRPr sz="1575" b="1">
                <a:solidFill>
                  <a:srgbClr val="0B2E59"/>
                </a:solidFill>
              </a:defRPr>
            </a:pPr>
            <a:r>
              <a:rPr sz="1575" b="1">
                <a:solidFill>
                  <a:srgbClr val="0B2E59"/>
                </a:solidFill>
              </a:rPr>
              <a:t>以 Streamlit 汇总数据、图表、聚类成果和模型接口</a:t>
            </a:r>
          </a:p>
        </p:txBody>
      </p:sp>
    </p:spTree>
    <p:extLst>
      <p:ext uri="{BB962C8B-B14F-4D97-AF65-F5344CB8AC3E}">
        <p14:creationId xmlns:p14="http://schemas.microsoft.com/office/powerpoint/2010/main" val="6942276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219363-8BD8-4F50-9023-9424676A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E59"/>
                </a:solidFill>
              </a:defRPr>
            </a:pPr>
            <a:r>
              <a:rPr sz="2400" b="1">
                <a:solidFill>
                  <a:srgbClr val="0B2E59"/>
                </a:solidFill>
              </a:rPr>
              <a:t>主数据集与质量控制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A7751B-58C0-42CD-9482-2B2D5E28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三份原始 CSV 经清洗和跨表匹配后形成统一的球员赛季数据集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666875"/>
          <a:ext xmlns:a="http://schemas.openxmlformats.org/drawingml/2006/main" cx="108585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571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数据层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规模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作用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Players.csv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3,922 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身体信息、学校和出生地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player_data.csv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4,550 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生涯年份、位置和出生日期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Seasons_Stats.csv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24,691 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赛季统计与高级指标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master_data.csv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20,313 条，78 字段，3,921 名球员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75">
                          <a:solidFill>
                            <a:srgbClr val="263238"/>
                          </a:solidFill>
                        </a:rPr>
                        <a:t>统一分析与前端读取入口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83DE94-6FB0-4E3B-81E4-0C3FA1DEA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00625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清洗规则：优先保留交易赛季的 TOT 汇总行；使用出生年份与年龄处理同名球员；保留早期高级指标的结构性缺失；构造 era、TS% 与每 36 分钟统计。</a:t>
            </a:r>
          </a:p>
        </p:txBody>
      </p:sp>
    </p:spTree>
    <p:extLst>
      <p:ext uri="{BB962C8B-B14F-4D97-AF65-F5344CB8AC3E}">
        <p14:creationId xmlns:p14="http://schemas.microsoft.com/office/powerpoint/2010/main" val="12507220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2B9D6D-9605-480B-B891-1982DE0CB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E59"/>
                </a:solidFill>
              </a:defRPr>
            </a:pPr>
            <a:r>
              <a:rPr sz="2400" b="1">
                <a:solidFill>
                  <a:srgbClr val="0B2E59"/>
                </a:solidFill>
              </a:rPr>
              <a:t>EDA 发现：三分出手占比持续上升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A21AF-A078-4D48-A997-3BED103A3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合格样本口径为 MP ≥ 500 且 G ≥ 5，共保留 14,860 条记录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69D80-1293-490E-869F-ED1440F2C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857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关键中位数</a:t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场均得分 9.4</a:t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PER 13.9</a:t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TS% 0.520</a:t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场均出场时间 24.9 分钟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4095750" y="1571625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69e0a51f4144ca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45B86-906E-4977-86E2-78DAF7EAE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476875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3PAr 从 1980 年的 0.011 提升至 2017 年的 0.324，反映联盟比赛风格向外线投射迁移。</a:t>
            </a:r>
          </a:p>
        </p:txBody>
      </p:sp>
    </p:spTree>
    <p:extLst>
      <p:ext uri="{BB962C8B-B14F-4D97-AF65-F5344CB8AC3E}">
        <p14:creationId xmlns:p14="http://schemas.microsoft.com/office/powerpoint/2010/main" val="12303312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F9566C-A421-49CF-9EAA-25F312B3E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E59"/>
                </a:solidFill>
              </a:defRPr>
            </a:pPr>
            <a:r>
              <a:rPr sz="2400" b="1">
                <a:solidFill>
                  <a:srgbClr val="0B2E59"/>
                </a:solidFill>
              </a:rPr>
              <a:t>聚类挖掘：以功能类型补充传统位置标签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9E5FCE-474E-466A-9384-3026E644C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角色 C 对 1980s 至 2010s 分时代运行聚类，并输出 PCA、t-SNE、雷达图和球员画像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c65cce653498d"/>
          <a:stretch xmlns:a="http://schemas.openxmlformats.org/drawingml/2006/main"/>
        </p:blipFill>
        <p:spPr>
          <a:xfrm xmlns:a="http://schemas.openxmlformats.org/drawingml/2006/main">
            <a:off x="848542" y="1571625"/>
            <a:ext cx="5303792" cy="390525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4A3740-825E-44D5-A7E0-7CA83F6FF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2385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2E59"/>
                </a:solidFill>
              </a:defRPr>
            </a:pPr>
            <a:r>
              <a:rPr sz="1800" b="1">
                <a:solidFill>
                  <a:srgbClr val="0B2E59"/>
                </a:solidFill>
              </a:rPr>
              <a:t>典型球员类型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00" b="1">
                <a:solidFill>
                  <a:srgbClr val="0B2E59"/>
                </a:solidFill>
              </a:defRPr>
            </a:pPr>
            <a:r>
              <a:rPr sz="1800" b="1">
                <a:solidFill>
                  <a:srgbClr val="0B2E59"/>
                </a:solidFill>
              </a:rPr>
              <a:t>传统组织后卫</a:t>
            </a:r>
          </a:p>
          <a:p xmlns:a="http://schemas.openxmlformats.org/drawingml/2006/main">
            <a:pPr>
              <a:defRPr sz="1800" b="1">
                <a:solidFill>
                  <a:srgbClr val="0B2E59"/>
                </a:solidFill>
              </a:defRPr>
            </a:pPr>
            <a:r>
              <a:rPr sz="1800" b="1">
                <a:solidFill>
                  <a:srgbClr val="0B2E59"/>
                </a:solidFill>
              </a:rPr>
              <a:t>定点射手</a:t>
            </a:r>
          </a:p>
          <a:p xmlns:a="http://schemas.openxmlformats.org/drawingml/2006/main">
            <a:pPr>
              <a:defRPr sz="1800" b="1">
                <a:solidFill>
                  <a:srgbClr val="0B2E59"/>
                </a:solidFill>
              </a:defRPr>
            </a:pPr>
            <a:r>
              <a:rPr sz="1800" b="1">
                <a:solidFill>
                  <a:srgbClr val="0B2E59"/>
                </a:solidFill>
              </a:rPr>
              <a:t>护框吃饼中锋</a:t>
            </a:r>
          </a:p>
          <a:p xmlns:a="http://schemas.openxmlformats.org/drawingml/2006/main">
            <a:pPr>
              <a:defRPr sz="1800" b="1">
                <a:solidFill>
                  <a:srgbClr val="0B2E59"/>
                </a:solidFill>
              </a:defRPr>
            </a:pPr>
            <a:r>
              <a:rPr sz="1800" b="1">
                <a:solidFill>
                  <a:srgbClr val="0B2E59"/>
                </a:solidFill>
              </a:rPr>
              <a:t>攻防一体中锋</a:t>
            </a:r>
          </a:p>
          <a:p xmlns:a="http://schemas.openxmlformats.org/drawingml/2006/main">
            <a:pPr>
              <a:defRPr sz="1800" b="1">
                <a:solidFill>
                  <a:srgbClr val="0B2E59"/>
                </a:solidFill>
              </a:defRPr>
            </a:pPr>
            <a:r>
              <a:rPr sz="1800" b="1">
                <a:solidFill>
                  <a:srgbClr val="0B2E59"/>
                </a:solidFill>
              </a:rPr>
              <a:t>多功能球员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7CDE46-D781-45A7-AC0F-8CCC9803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24375"/>
            <a:ext cx="3333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2616B"/>
                </a:solidFill>
              </a:defRPr>
            </a:pPr>
            <a:r>
              <a:rPr sz="1350" b="0">
                <a:solidFill>
                  <a:srgbClr val="52616B"/>
                </a:solidFill>
              </a:rPr>
              <a:t>前端直接读取角色 C 的既有图像成果，不复制聚类训练流程。后续可导出 Player、Year、Cluster CSV，扩展为逐球员交互筛选。</a:t>
            </a:r>
          </a:p>
        </p:txBody>
      </p:sp>
    </p:spTree>
    <p:extLst>
      <p:ext uri="{BB962C8B-B14F-4D97-AF65-F5344CB8AC3E}">
        <p14:creationId xmlns:p14="http://schemas.microsoft.com/office/powerpoint/2010/main" val="2765368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03D9E2-B3E2-41BC-A364-92A792E8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E59"/>
                </a:solidFill>
              </a:defRPr>
            </a:pPr>
            <a:r>
              <a:rPr sz="2400" b="1">
                <a:solidFill>
                  <a:srgbClr val="0B2E59"/>
                </a:solidFill>
              </a:rPr>
              <a:t>预测建模：严格时间切分与可解释接口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A331F6-899C-402C-8804-4241E8E07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模型以当季统计预测下一赛季表现，避免使用未来赛季数据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8BD2CF-4148-4E19-8DA7-6A7D7047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9527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E59"/>
                </a:solidFill>
              </a:defRPr>
            </a:pPr>
            <a:r>
              <a:rPr sz="1875" b="1">
                <a:solidFill>
                  <a:srgbClr val="0B2E59"/>
                </a:solidFill>
              </a:rPr>
              <a:t>预测目标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1">
                <a:solidFill>
                  <a:srgbClr val="0B2E59"/>
                </a:solidFill>
              </a:defRPr>
            </a:pPr>
            <a:r>
              <a:rPr sz="1875" b="1">
                <a:solidFill>
                  <a:srgbClr val="0B2E59"/>
                </a:solidFill>
              </a:rPr>
              <a:t>下一赛季 PER</a:t>
            </a:r>
          </a:p>
          <a:p xmlns:a="http://schemas.openxmlformats.org/drawingml/2006/main">
            <a:pPr>
              <a:defRPr sz="1875" b="1">
                <a:solidFill>
                  <a:srgbClr val="0B2E59"/>
                </a:solidFill>
              </a:defRPr>
            </a:pPr>
            <a:r>
              <a:rPr sz="1875" b="1">
                <a:solidFill>
                  <a:srgbClr val="0B2E59"/>
                </a:solidFill>
              </a:rPr>
              <a:t>下一赛季全明星级概率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026A4D-A74F-4791-99F1-2773A4ABE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09750"/>
            <a:ext cx="2952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验证方式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训练集：1950–2010</a:t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测试集：2011–2017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按时间切分避免信息泄漏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D8BD65-84F8-41D3-B73A-57E87612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前端接入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XGBoost Pipeline</a:t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自动对齐输入特征</a:t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全明星级概率</a:t>
            </a:r>
          </a:p>
          <a:p xmlns:a="http://schemas.openxmlformats.org/drawingml/2006/main">
            <a:pPr>
              <a:defRPr sz="1725" b="1">
                <a:solidFill>
                  <a:srgbClr val="0B2E59"/>
                </a:solidFill>
              </a:defRPr>
            </a:pPr>
            <a:r>
              <a:rPr sz="1725" b="1">
                <a:solidFill>
                  <a:srgbClr val="0B2E59"/>
                </a:solidFill>
              </a:rPr>
              <a:t>SHAP 瀑布图解释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D6272C-DDF3-4218-B373-511289AA0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981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当前仓库未提交二进制模型权重。运行预测 Notebook 的模型导出单元后，Streamlit 页面会自动检测模型文件并启用推理表单。</a:t>
            </a:r>
          </a:p>
        </p:txBody>
      </p:sp>
    </p:spTree>
    <p:extLst>
      <p:ext uri="{BB962C8B-B14F-4D97-AF65-F5344CB8AC3E}">
        <p14:creationId xmlns:p14="http://schemas.microsoft.com/office/powerpoint/2010/main" val="71715043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B9069B-8C3E-4CB8-AEEC-36E7A536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E59"/>
                </a:solidFill>
              </a:defRPr>
            </a:pPr>
            <a:r>
              <a:rPr sz="2400" b="1">
                <a:solidFill>
                  <a:srgbClr val="0B2E59"/>
                </a:solidFill>
              </a:rPr>
              <a:t>Streamlit 看板：项目成果的统一入口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720238-5A67-4992-BE8C-0BA9E4BD4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入口文件为 app/app.py，读取 master_data.csv 并复用角色 B 的可视化函数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4734F2-ACA0-4B4F-811E-34FBB164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E59"/>
                </a:solidFill>
              </a:defRPr>
            </a:pPr>
            <a:r>
              <a:rPr sz="1875" b="1">
                <a:solidFill>
                  <a:srgbClr val="0B2E59"/>
                </a:solidFill>
              </a:rPr>
              <a:t>统一筛选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72932A-F214-4665-932F-91EB54484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43125"/>
            <a:ext cx="381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赛季、位置、球队、最低出场时间</a:t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使用 st.cache_data 缓存主数据读取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DDBD91-340E-42C0-9D9C-1B5990832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33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E59"/>
                </a:solidFill>
              </a:defRPr>
            </a:pPr>
            <a:r>
              <a:rPr sz="1875" b="1">
                <a:solidFill>
                  <a:srgbClr val="0B2E59"/>
                </a:solidFill>
              </a:rPr>
              <a:t>四个数据页面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6E2320-E49E-402E-90A4-C66A981F5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623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项目概览、球员探索、效率分布、球队与位置比较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AFF65-2B22-44DF-8CF1-7099BC8C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1450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E59"/>
                </a:solidFill>
              </a:defRPr>
            </a:pPr>
            <a:r>
              <a:rPr sz="1875" b="1">
                <a:solidFill>
                  <a:srgbClr val="0B2E59"/>
                </a:solidFill>
              </a:rPr>
              <a:t>两个整合页面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1CDC8A-E6E5-47C5-A628-C5D47F81F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095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聚类页面加载分时代图像</a:t>
            </a:r>
          </a:p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预测页面检测模型文件后启用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354DCC-4353-41CA-88DC-CB2692556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33750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2E59"/>
                </a:solidFill>
              </a:defRPr>
            </a:pPr>
            <a:r>
              <a:rPr sz="1875" b="1">
                <a:solidFill>
                  <a:srgbClr val="0B2E59"/>
                </a:solidFill>
              </a:rPr>
              <a:t>运行方式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F1B89-00EE-4655-84FB-20474A30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F6B9A"/>
                </a:solidFill>
              </a:defRPr>
            </a:pPr>
            <a:r>
              <a:rPr sz="1650" b="1">
                <a:solidFill>
                  <a:srgbClr val="2F6B9A"/>
                </a:solidFill>
              </a:rPr>
              <a:t>streamlit run app/app.py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10B362-CB69-4A19-93D2-228F879D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86375"/>
            <a:ext cx="990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2616B"/>
                </a:solidFill>
              </a:defRPr>
            </a:pPr>
            <a:r>
              <a:rPr sz="1425" b="0">
                <a:solidFill>
                  <a:srgbClr val="52616B"/>
                </a:solidFill>
              </a:rPr>
              <a:t>看板保持展示层与训练层分离，避免对 src/ 和 notebooks 的交叉修改，从而降低并行协作的代码冲突。</a:t>
            </a:r>
          </a:p>
        </p:txBody>
      </p:sp>
    </p:spTree>
    <p:extLst>
      <p:ext uri="{BB962C8B-B14F-4D97-AF65-F5344CB8AC3E}">
        <p14:creationId xmlns:p14="http://schemas.microsoft.com/office/powerpoint/2010/main" val="56796728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3DDC2-0C23-4908-800E-3851EC8E0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1076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B2E59"/>
                </a:solidFill>
              </a:defRPr>
            </a:pPr>
            <a:r>
              <a:rPr sz="2400" b="1">
                <a:solidFill>
                  <a:srgbClr val="0B2E59"/>
                </a:solidFill>
              </a:rPr>
              <a:t>Git 历史与最终交付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900F52-3609-4FB1-8938-0EE08E6B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3345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2616B"/>
                </a:solidFill>
              </a:defRPr>
            </a:pPr>
            <a:r>
              <a:rPr sz="1200" b="0">
                <a:solidFill>
                  <a:srgbClr val="52616B"/>
                </a:solidFill>
              </a:rPr>
              <a:t>功能分支按数据、分析、模型和聚类逐步合并到 main 分支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66750" y="1524000"/>
          <a:ext xmlns:a="http://schemas.openxmlformats.org/drawingml/2006/main" cx="10858500" cy="266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3619500"/>
                <a:gridCol w="3619500"/>
              </a:tblGrid>
              <a:tr h="4445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日期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合并内容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主要交付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2026-09-03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初始仓库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目录、依赖、协作规范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2026-09-04 至 09-05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数据清洗与 EDA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主数据集、visualization.py、EDA Notebook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2026-09-05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预测建模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models.py、预测 Notebook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2026-09-06 至 09-07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聚类挖掘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分时代图像、聚类 Notebook</a:t>
                      </a:r>
                    </a:p>
                  </a:txBody>
                  <a:tcPr marL="91440" marR="91440" marT="45720" marB="45720"/>
                </a:tc>
              </a:tr>
              <a:tr h="44450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2026-09-07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角色 E 整合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263238"/>
                          </a:solidFill>
                        </a:rPr>
                        <a:t>Streamlit 看板、最终报告、汇报 PPT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CF1F7B-0AE7-4FD5-ACD1-05517BC6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10125"/>
            <a:ext cx="1066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2616B"/>
                </a:solidFill>
              </a:defRPr>
            </a:pPr>
            <a:r>
              <a:rPr sz="1500" b="0">
                <a:solidFill>
                  <a:srgbClr val="52616B"/>
                </a:solidFill>
              </a:rPr>
              <a:t>结论：项目已形成从多源数据清洗、EDA、分时代聚类、时间序列预测到交互展示的完整链路。后续可接入 2018 年后的数据、模型权重和聚类结果 CSV，提升时效性与交互深度。</a:t>
            </a:r>
          </a:p>
        </p:txBody>
      </p:sp>
    </p:spTree>
    <p:extLst>
      <p:ext uri="{BB962C8B-B14F-4D97-AF65-F5344CB8AC3E}">
        <p14:creationId xmlns:p14="http://schemas.microsoft.com/office/powerpoint/2010/main" val="199073919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BOT Color Palette 2026">
      <a:dk1>
        <a:srgbClr val="000000"/>
      </a:dk1>
      <a:lt1>
        <a:srgbClr val="FFFFFF"/>
      </a:lt1>
      <a:dk2>
        <a:srgbClr val="08284F"/>
      </a:dk2>
      <a:lt2>
        <a:srgbClr val="F9FCFF"/>
      </a:lt2>
      <a:accent1>
        <a:srgbClr val="175CD4"/>
      </a:accent1>
      <a:accent2>
        <a:srgbClr val="0B3668"/>
      </a:accent2>
      <a:accent3>
        <a:srgbClr val="EDF5FE"/>
      </a:accent3>
      <a:accent4>
        <a:srgbClr val="7E91A8"/>
      </a:accent4>
      <a:accent5>
        <a:srgbClr val="004142"/>
      </a:accent5>
      <a:accent6>
        <a:srgbClr val="407879"/>
      </a:accent6>
      <a:hlink>
        <a:srgbClr val="00ABFF"/>
      </a:hlink>
      <a:folHlink>
        <a:srgbClr val="430942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BOT Color Palette 2026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2026-09-07T12:55:49.9630000Z</dcterms:created>
  <dcterms:modified xsi:type="dcterms:W3CDTF">2026-09-07T12:55:49.9640000Z</dcterms:modified>
</coreProperties>
</file>